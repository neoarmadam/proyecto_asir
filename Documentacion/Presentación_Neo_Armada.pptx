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9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</p:sldIdLst>
  <p:sldSz cx="12192000" cy="6858000"/>
  <p:notesSz cx="6858000" cy="9144000"/>
  <p:defaultTextStyle>
    <a:defPPr>
      <a:defRPr lang="es-ES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 /><Relationship Id="rId15" Type="http://schemas.openxmlformats.org/officeDocument/2006/relationships/tableStyles" Target="tableStyles.xml" /><Relationship Id="rId16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5531512" name="Marcador de encabezado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1010337886" name="Marcador de fecha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s-ES"/>
              <a:t>10/30/2013</a:t>
            </a:fld>
            <a:endParaRPr lang="es-ES"/>
          </a:p>
        </p:txBody>
      </p:sp>
      <p:sp>
        <p:nvSpPr>
          <p:cNvPr id="1523141748" name="Marcador de imagen de diapositiva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s-ES"/>
          </a:p>
        </p:txBody>
      </p:sp>
      <p:sp>
        <p:nvSpPr>
          <p:cNvPr id="1404809077" name="Marcador de notas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s-ES"/>
              <a:t>Haga clic para modificar el estilo de texto del patrón</a:t>
            </a:r>
            <a:endParaRPr/>
          </a:p>
          <a:p>
            <a:pPr lvl="1">
              <a:defRPr/>
            </a:pPr>
            <a:r>
              <a:rPr lang="es-ES"/>
              <a:t>Segundo nivel</a:t>
            </a:r>
            <a:endParaRPr/>
          </a:p>
          <a:p>
            <a:pPr lvl="2">
              <a:defRPr/>
            </a:pPr>
            <a:r>
              <a:rPr lang="es-ES"/>
              <a:t>Tercer nivel</a:t>
            </a:r>
            <a:endParaRPr/>
          </a:p>
          <a:p>
            <a:pPr lvl="3">
              <a:defRPr/>
            </a:pPr>
            <a:r>
              <a:rPr lang="es-ES"/>
              <a:t>Cuarto nivel</a:t>
            </a:r>
            <a:endParaRPr/>
          </a:p>
          <a:p>
            <a:pPr lvl="4">
              <a:defRPr/>
            </a:pPr>
            <a:r>
              <a:rPr lang="es-ES"/>
              <a:t>Quinto nivel</a:t>
            </a:r>
            <a:endParaRPr lang="es-ES"/>
          </a:p>
        </p:txBody>
      </p:sp>
      <p:sp>
        <p:nvSpPr>
          <p:cNvPr id="468539071" name="Marcador de pie de página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s-ES"/>
          </a:p>
        </p:txBody>
      </p:sp>
      <p:sp>
        <p:nvSpPr>
          <p:cNvPr id="981913422" name="Marcador de número de diapositiva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s-ES"/>
              <a:t>‹#›</a:t>
            </a:fld>
            <a:endParaRPr lang="es-E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 ?>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4592818" name="Marcador de imagen de diapositiva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30599492" name="Marcador de notas 4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s-ES">
              <a:latin typeface="Arial"/>
              <a:cs typeface="Arial"/>
            </a:endParaRPr>
          </a:p>
        </p:txBody>
      </p:sp>
      <p:sp>
        <p:nvSpPr>
          <p:cNvPr id="631725566" name="Marcador de número de diapositiva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s-ES"/>
              <a:t>1</a:t>
            </a:fld>
            <a:endParaRPr lang="es-E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490354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344849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07340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0BD641-35C8-9F99-74BB-995578EA97E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241980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41234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86323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075D1C-D1EF-2AF5-01F5-1DA08A94168D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397885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532967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29712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398AFE-4419-8F31-3785-E6C8281AD2D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421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902136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7227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78B513B-7ACF-EC0C-1B7C-CEB09476CA5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243973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68564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0696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14520F-F242-84FA-2E0B-F451639017A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34520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466087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90595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DCAB2E-5350-C644-ED9C-80B85FF74B1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553242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552893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70985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70D4025-FDF9-D5BF-E4D5-F120F098AE1A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92468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881341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6656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5BC9D7D-E86F-87CB-958C-42E31B65C26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9571404" name="Title 1"/>
          <p:cNvSpPr>
            <a:spLocks noGrp="1"/>
          </p:cNvSpPr>
          <p:nvPr>
            <p:ph type="ctrTitle"/>
          </p:nvPr>
        </p:nvSpPr>
        <p:spPr bwMode="auto">
          <a:xfrm>
            <a:off x="1523999" y="1122362"/>
            <a:ext cx="9144000" cy="2387599"/>
          </a:xfrm>
        </p:spPr>
        <p:txBody>
          <a:bodyPr anchor="b"/>
          <a:lstStyle>
            <a:lvl1pPr algn="ctr">
              <a:defRPr sz="45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759755876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3999" y="3602037"/>
            <a:ext cx="9144000" cy="165576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13249184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36113092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790420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360837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64075249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62546943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463849106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652567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8856612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45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31152783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6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390665900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57799883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2906682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563153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416763546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198" y="1825625"/>
            <a:ext cx="5181599" cy="4351338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887897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599" cy="4351338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90551493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34348643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43842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8858670" name="Title 1"/>
          <p:cNvSpPr>
            <a:spLocks noGrp="1"/>
          </p:cNvSpPr>
          <p:nvPr>
            <p:ph type="title"/>
          </p:nvPr>
        </p:nvSpPr>
        <p:spPr bwMode="auto">
          <a:xfrm>
            <a:off x="839787" y="365125"/>
            <a:ext cx="10515600" cy="1325562"/>
          </a:xfrm>
        </p:spPr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918331132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9" y="1681162"/>
            <a:ext cx="5157785" cy="82391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23846518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9" y="2505074"/>
            <a:ext cx="5157785" cy="3684587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876561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2"/>
            <a:ext cx="5183187" cy="82391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959482858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7" cy="3684587"/>
          </a:xfrm>
        </p:spPr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81249332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96538064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2337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816141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123013275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249594455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0560841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6591850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90956959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64996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51657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58772303" name="Content Placeholder 2"/>
          <p:cNvSpPr>
            <a:spLocks noGrp="1"/>
          </p:cNvSpPr>
          <p:nvPr>
            <p:ph idx="1"/>
          </p:nvPr>
        </p:nvSpPr>
        <p:spPr bwMode="auto">
          <a:xfrm>
            <a:off x="5183187" y="987425"/>
            <a:ext cx="6172200" cy="487362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96340931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399"/>
            <a:ext cx="3932237" cy="3811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92372423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1886413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157676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464711" name="Title 1"/>
          <p:cNvSpPr>
            <a:spLocks noGrp="1"/>
          </p:cNvSpPr>
          <p:nvPr>
            <p:ph type="title"/>
          </p:nvPr>
        </p:nvSpPr>
        <p:spPr bwMode="auto">
          <a:xfrm>
            <a:off x="839787" y="457200"/>
            <a:ext cx="3932237" cy="1600200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5719377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7" y="987425"/>
            <a:ext cx="6172200" cy="4873625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>
              <a:defRPr/>
            </a:pPr>
            <a:r>
              <a:rPr/>
              <a:t>Click icon to add picture</a:t>
            </a:r>
            <a:endParaRPr/>
          </a:p>
        </p:txBody>
      </p:sp>
      <p:sp>
        <p:nvSpPr>
          <p:cNvPr id="553389247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7" y="2057399"/>
            <a:ext cx="3932237" cy="381158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3719755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277840662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18980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665314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683954067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22107575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5307191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10562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5065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899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030079148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198" y="365125"/>
            <a:ext cx="7734299" cy="5811838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36456852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49517876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35692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13"/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257995" name="Title Placeholder 1"/>
          <p:cNvSpPr>
            <a:spLocks noGrp="1"/>
          </p:cNvSpPr>
          <p:nvPr>
            <p:ph type="title"/>
          </p:nvPr>
        </p:nvSpPr>
        <p:spPr bwMode="auto">
          <a:xfrm>
            <a:off x="838198" y="365125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6492775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198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6520502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19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/>
              <a:t>01.11.2013</a:t>
            </a:fld>
            <a:endParaRPr/>
          </a:p>
        </p:txBody>
      </p:sp>
      <p:sp>
        <p:nvSpPr>
          <p:cNvPr id="208468784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598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036448641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599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>
        <a:lnSpc>
          <a:spcPct val="90000"/>
        </a:lnSpc>
        <a:spcBef>
          <a:spcPts val="0"/>
        </a:spcBef>
        <a:buNone/>
        <a:defRPr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>
        <a:lnSpc>
          <a:spcPct val="90000"/>
        </a:lnSpc>
        <a:spcBef>
          <a:spcPts val="749"/>
        </a:spcBef>
        <a:buFont typeface="Arial"/>
        <a:buChar char="•"/>
        <a:defRPr sz="21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5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>
        <a:lnSpc>
          <a:spcPct val="90000"/>
        </a:lnSpc>
        <a:spcBef>
          <a:spcPts val="374"/>
        </a:spcBef>
        <a:buFont typeface="Arial"/>
        <a:buChar char="•"/>
        <a:defRPr sz="13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>
        <a:defRPr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media1.sv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jp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docs.fedoraproject.org/en-US/fedora-server/" TargetMode="External"/><Relationship Id="rId4" Type="http://schemas.openxmlformats.org/officeDocument/2006/relationships/hyperlink" Target="https://docs.podman.io/en/latest/" TargetMode="External"/><Relationship Id="rId5" Type="http://schemas.openxmlformats.org/officeDocument/2006/relationships/hyperlink" Target="https://cockpit-project.org/running.html" TargetMode="External"/><Relationship Id="rId6" Type="http://schemas.openxmlformats.org/officeDocument/2006/relationships/hyperlink" Target="https://www.samba.org/samba/docs/" TargetMode="External"/><Relationship Id="rId7" Type="http://schemas.openxmlformats.org/officeDocument/2006/relationships/hyperlink" Target="https://docs.zerotier.com/" TargetMode="External"/><Relationship Id="rId8" Type="http://schemas.openxmlformats.org/officeDocument/2006/relationships/hyperlink" Target="https://www.gnu.org/software/bash/manual/" TargetMode="Externa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2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373383" name="Título 1"/>
          <p:cNvSpPr>
            <a:spLocks noGrp="1"/>
          </p:cNvSpPr>
          <p:nvPr>
            <p:ph type="ctrTitle"/>
          </p:nvPr>
        </p:nvSpPr>
        <p:spPr bwMode="auto"/>
        <p:txBody>
          <a:bodyPr/>
          <a:lstStyle/>
          <a:p>
            <a:pPr>
              <a:defRPr/>
            </a:pPr>
            <a:r>
              <a:rPr lang="es-ES">
                <a:solidFill>
                  <a:schemeClr val="bg1"/>
                </a:solidFill>
              </a:rPr>
              <a:t>Entorno de Servidor Neo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564035613" name="Subtítulo 2"/>
          <p:cNvSpPr>
            <a:spLocks noGrp="1"/>
          </p:cNvSpPr>
          <p:nvPr>
            <p:ph type="subTitle" idx="1"/>
          </p:nvPr>
        </p:nvSpPr>
        <p:spPr bwMode="auto"/>
        <p:txBody>
          <a:bodyPr/>
          <a:lstStyle/>
          <a:p>
            <a:pPr>
              <a:defRPr/>
            </a:pPr>
            <a:r>
              <a:rPr lang="es-ES">
                <a:solidFill>
                  <a:schemeClr val="bg1"/>
                </a:solidFill>
              </a:rPr>
              <a:t>Neo Armada Montero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lang="es-ES">
                <a:solidFill>
                  <a:schemeClr val="bg1"/>
                </a:solidFill>
              </a:rPr>
              <a:t>2º ASIR</a:t>
            </a:r>
            <a:endParaRPr lang="es-ES">
              <a:solidFill>
                <a:schemeClr val="bg1"/>
              </a:solidFill>
            </a:endParaRPr>
          </a:p>
          <a:p>
            <a:pPr>
              <a:defRPr/>
            </a:pPr>
            <a:r>
              <a:rPr lang="es-ES" sz="1800" b="0" i="0" u="none" strike="noStrike" cap="none" spc="0">
                <a:solidFill>
                  <a:schemeClr val="bg1"/>
                </a:solidFill>
                <a:latin typeface="Arial"/>
                <a:ea typeface="Arial"/>
                <a:cs typeface="Arial"/>
              </a:rPr>
              <a:t>https://github.com/Neoarmadam/Proyecto_ASIR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694376232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4773596" y="33833"/>
            <a:ext cx="2785368" cy="27853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349545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Presentación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466823064" name="Content Placeholder 2"/>
          <p:cNvSpPr>
            <a:spLocks noGrp="1"/>
          </p:cNvSpPr>
          <p:nvPr>
            <p:ph idx="1"/>
          </p:nvPr>
        </p:nvSpPr>
        <p:spPr bwMode="auto"/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95000" lnSpcReduction="1000"/>
          </a:bodyPr>
          <a:lstStyle/>
          <a:p>
            <a:pPr marL="0" indent="0">
              <a:buFont typeface="Arial"/>
              <a:buNone/>
              <a:defRPr/>
            </a:pPr>
            <a:r>
              <a:rPr sz="3200" b="0" i="0" u="none">
                <a:solidFill>
                  <a:schemeClr val="bg1"/>
                </a:solidFill>
                <a:latin typeface="Arial"/>
                <a:ea typeface="Arial"/>
                <a:cs typeface="Arial"/>
              </a:rPr>
              <a:t>Optimización y automatización de entornos Fedora Server mediante el despliegue de scripts personalizados y una capa de alias optimizada para mejorar la eficiencia operativa.</a:t>
            </a:r>
            <a:endParaRPr sz="3200" b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sz="3200" b="0">
                <a:solidFill>
                  <a:schemeClr val="bg1"/>
                </a:solidFill>
                <a:latin typeface="Arial"/>
                <a:ea typeface="Arial"/>
                <a:cs typeface="Arial"/>
              </a:rPr>
              <a:t>Scripts: Automatizan funciones del servidor.</a:t>
            </a:r>
            <a:endParaRPr sz="3200" b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sz="3200" b="0">
                <a:solidFill>
                  <a:schemeClr val="bg1"/>
                </a:solidFill>
                <a:latin typeface="Arial"/>
                <a:ea typeface="Arial"/>
                <a:cs typeface="Arial"/>
              </a:rPr>
              <a:t>Alias: Facilitan la ejecución de comandos o Scripts en el servidor.</a:t>
            </a:r>
            <a:endParaRPr sz="3200" b="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sz="3200" b="0">
                <a:solidFill>
                  <a:schemeClr val="bg1"/>
                </a:solidFill>
                <a:latin typeface="Arial"/>
                <a:ea typeface="Arial"/>
                <a:cs typeface="Arial"/>
              </a:rPr>
              <a:t>Cockpit: Herramienta Web para acceso remoto al servidor.</a:t>
            </a:r>
            <a:endParaRPr sz="3200" b="0" i="0" u="none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64652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Herramientas de Software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88133767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sz="3200">
                <a:solidFill>
                  <a:schemeClr val="bg1"/>
                </a:solidFill>
              </a:rPr>
              <a:t>Fedora Server</a:t>
            </a:r>
            <a:endParaRPr sz="3200">
              <a:solidFill>
                <a:schemeClr val="bg1"/>
              </a:solidFill>
            </a:endParaRPr>
          </a:p>
          <a:p>
            <a:pPr>
              <a:defRPr/>
            </a:pPr>
            <a:r>
              <a:rPr sz="3200">
                <a:solidFill>
                  <a:schemeClr val="bg1"/>
                </a:solidFill>
              </a:rPr>
              <a:t>Podman</a:t>
            </a:r>
            <a:endParaRPr sz="3200">
              <a:solidFill>
                <a:schemeClr val="bg1"/>
              </a:solidFill>
            </a:endParaRPr>
          </a:p>
          <a:p>
            <a:pPr>
              <a:defRPr/>
            </a:pPr>
            <a:r>
              <a:rPr sz="3200">
                <a:solidFill>
                  <a:schemeClr val="bg1"/>
                </a:solidFill>
              </a:rPr>
              <a:t>Visual Studio Code</a:t>
            </a:r>
            <a:endParaRPr sz="3200">
              <a:solidFill>
                <a:schemeClr val="bg1"/>
              </a:solidFill>
            </a:endParaRPr>
          </a:p>
          <a:p>
            <a:pPr>
              <a:defRPr/>
            </a:pPr>
            <a:r>
              <a:rPr sz="3200">
                <a:solidFill>
                  <a:schemeClr val="bg1"/>
                </a:solidFill>
              </a:rPr>
              <a:t>KVM/Qemu</a:t>
            </a:r>
            <a:endParaRPr sz="3200">
              <a:solidFill>
                <a:schemeClr val="bg1"/>
              </a:solidFill>
            </a:endParaRPr>
          </a:p>
          <a:p>
            <a:pPr>
              <a:defRPr/>
            </a:pPr>
            <a:r>
              <a:rPr sz="3200">
                <a:solidFill>
                  <a:schemeClr val="bg1"/>
                </a:solidFill>
              </a:rPr>
              <a:t>Cockpit</a:t>
            </a:r>
            <a:endParaRPr sz="3200">
              <a:solidFill>
                <a:schemeClr val="bg1"/>
              </a:solidFill>
            </a:endParaRPr>
          </a:p>
          <a:p>
            <a:pPr>
              <a:defRPr/>
            </a:pPr>
            <a:r>
              <a:rPr sz="3200">
                <a:solidFill>
                  <a:schemeClr val="bg1"/>
                </a:solidFill>
              </a:rPr>
              <a:t>Bash</a:t>
            </a:r>
            <a:endParaRPr sz="3200">
              <a:solidFill>
                <a:schemeClr val="bg1"/>
              </a:solidFill>
            </a:endParaRPr>
          </a:p>
          <a:p>
            <a:pPr>
              <a:defRPr/>
            </a:pPr>
            <a:r>
              <a:rPr sz="3200">
                <a:solidFill>
                  <a:schemeClr val="bg1"/>
                </a:solidFill>
              </a:rPr>
              <a:t>GitHub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61733595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8049827" y="1623389"/>
            <a:ext cx="1017336" cy="1017336"/>
          </a:xfrm>
          <a:prstGeom prst="flowChartAlternateProcess">
            <a:avLst/>
          </a:prstGeom>
          <a:solidFill>
            <a:schemeClr val="bg1"/>
          </a:solidFill>
        </p:spPr>
      </p:pic>
      <p:pic>
        <p:nvPicPr>
          <p:cNvPr id="939464179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9343018" y="1919346"/>
            <a:ext cx="599982" cy="599982"/>
          </a:xfrm>
          <a:prstGeom prst="flowChartAlternateProcess">
            <a:avLst/>
          </a:prstGeom>
          <a:solidFill>
            <a:schemeClr val="bg1"/>
          </a:solidFill>
        </p:spPr>
      </p:pic>
      <p:pic>
        <p:nvPicPr>
          <p:cNvPr id="735258403" name="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 flipH="0" flipV="0">
            <a:off x="8820567" y="2997572"/>
            <a:ext cx="627566" cy="627566"/>
          </a:xfrm>
          <a:prstGeom prst="flowChartAlternateProcess">
            <a:avLst/>
          </a:prstGeom>
          <a:solidFill>
            <a:schemeClr val="bg1"/>
          </a:solidFill>
        </p:spPr>
      </p:pic>
      <p:pic>
        <p:nvPicPr>
          <p:cNvPr id="1587277132" name=""/>
          <p:cNvPicPr>
            <a:picLocks noChangeAspect="1"/>
          </p:cNvPicPr>
          <p:nvPr/>
        </p:nvPicPr>
        <p:blipFill rotWithShape="1">
          <a:blip r:embed="rId7"/>
          <a:stretch/>
        </p:blipFill>
        <p:spPr bwMode="auto">
          <a:xfrm flipH="0" flipV="0">
            <a:off x="9787615" y="2727648"/>
            <a:ext cx="583708" cy="583708"/>
          </a:xfrm>
          <a:prstGeom prst="flowChartAlternateProcess">
            <a:avLst/>
          </a:prstGeom>
          <a:solidFill>
            <a:schemeClr val="bg1"/>
          </a:solidFill>
        </p:spPr>
      </p:pic>
      <p:pic>
        <p:nvPicPr>
          <p:cNvPr id="1362644433" name=""/>
          <p:cNvPicPr>
            <a:picLocks noChangeAspect="1"/>
          </p:cNvPicPr>
          <p:nvPr/>
        </p:nvPicPr>
        <p:blipFill rotWithShape="1">
          <a:blip r:embed="rId8"/>
          <a:stretch/>
        </p:blipFill>
        <p:spPr bwMode="auto">
          <a:xfrm flipH="0" flipV="0">
            <a:off x="9115073" y="3814529"/>
            <a:ext cx="666123" cy="666123"/>
          </a:xfrm>
          <a:prstGeom prst="flowChartAlternateProcess">
            <a:avLst/>
          </a:prstGeom>
          <a:solidFill>
            <a:schemeClr val="bg1"/>
          </a:solidFill>
        </p:spPr>
      </p:pic>
      <p:pic>
        <p:nvPicPr>
          <p:cNvPr id="335989177" name=""/>
          <p:cNvPicPr>
            <a:picLocks noChangeAspect="1"/>
          </p:cNvPicPr>
          <p:nvPr/>
        </p:nvPicPr>
        <p:blipFill rotWithShape="1">
          <a:blip r:embed="rId9"/>
          <a:stretch/>
        </p:blipFill>
        <p:spPr bwMode="auto">
          <a:xfrm flipH="0" flipV="0">
            <a:off x="9986087" y="3692302"/>
            <a:ext cx="617981" cy="617981"/>
          </a:xfrm>
          <a:prstGeom prst="flowChartAlternateProcess">
            <a:avLst/>
          </a:prstGeom>
        </p:spPr>
      </p:pic>
      <p:pic>
        <p:nvPicPr>
          <p:cNvPr id="1639793240" name=""/>
          <p:cNvPicPr>
            <a:picLocks noChangeAspect="1"/>
          </p:cNvPicPr>
          <p:nvPr/>
        </p:nvPicPr>
        <p:blipFill rotWithShape="1">
          <a:blip r:embed="rId10"/>
          <a:stretch/>
        </p:blipFill>
        <p:spPr bwMode="auto">
          <a:xfrm flipH="0" flipV="0">
            <a:off x="9643010" y="4649940"/>
            <a:ext cx="872919" cy="849278"/>
          </a:xfrm>
          <a:prstGeom prst="flowChartAlternateProcess">
            <a:avLst/>
          </a:prstGeom>
          <a:solidFill>
            <a:schemeClr val="bg1"/>
          </a:solidFill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655856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Herramientas Hardware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61933934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AMD Ryzen 7 3700X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32 GB DDR4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SSD 512(Partición Dedicada a VMs)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Nvidia RTX 2060 6GB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Periféricos(Monitor, teclado, ratón, ect)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1664293652" name="Imagen 3" descr=""/>
          <p:cNvPicPr/>
          <p:nvPr/>
        </p:nvPicPr>
        <p:blipFill rotWithShape="1">
          <a:blip r:embed="rId3"/>
          <a:srcRect l="0" t="376" r="0" b="376"/>
          <a:stretch/>
        </p:blipFill>
        <p:spPr bwMode="auto">
          <a:xfrm rot="0" flipH="0" flipV="0">
            <a:off x="8215980" y="1357407"/>
            <a:ext cx="3497154" cy="3389833"/>
          </a:xfrm>
          <a:prstGeom prst="flowChartAlternateProcess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43148477" name="Title 1"/>
          <p:cNvSpPr>
            <a:spLocks noGrp="1"/>
          </p:cNvSpPr>
          <p:nvPr>
            <p:ph type="title"/>
          </p:nvPr>
        </p:nvSpPr>
        <p:spPr bwMode="auto">
          <a:xfrm flipH="0" flipV="0">
            <a:off x="609599" y="274638"/>
            <a:ext cx="8496135" cy="1143000"/>
          </a:xfrm>
        </p:spPr>
        <p:txBody>
          <a:bodyPr vertOverflow="overflow" horzOverflow="overflow" vert="horz" wrap="square" lIns="91440" tIns="45720" rIns="91440" bIns="45720" numCol="1" spcCol="0" rtlCol="0" fromWordArt="0" anchor="ctr" anchorCtr="0" forceAA="0" upright="0" compatLnSpc="0">
            <a:normAutofit fontScale="90000" lnSpcReduction="2000"/>
          </a:bodyPr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Estructura general de la Base de Datos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93070237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1600201"/>
            <a:ext cx="8365399" cy="4525962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>
                <a:solidFill>
                  <a:schemeClr val="bg1"/>
                </a:solidFill>
              </a:rPr>
              <a:t>No hay base de datos, pero existe una jerarquía </a:t>
            </a:r>
            <a:r>
              <a:rPr>
                <a:solidFill>
                  <a:schemeClr val="bg1"/>
                </a:solidFill>
              </a:rPr>
              <a:t>en cuanto a la distribución de los Scripts: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Se separa la memoria.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Se separa el Script de Españolizacion inicial, el de Alias y el Script encargado de actualizar el repositorio</a:t>
            </a:r>
            <a:r>
              <a:rPr>
                <a:solidFill>
                  <a:schemeClr val="bg1"/>
                </a:solidFill>
              </a:rPr>
              <a:t>.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Se separan los Scripts de Samba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>
                <a:solidFill>
                  <a:schemeClr val="bg1"/>
                </a:solidFill>
              </a:rPr>
              <a:t>Se separa los Scripts que levantan servidores en Podman, gestionados por un Script padre.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1432699829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9180232" y="144742"/>
            <a:ext cx="2590799" cy="6381749"/>
          </a:xfrm>
          <a:prstGeom prst="flowChartAlternateProcess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869851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Funcionalidades Destacadas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673905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defRPr/>
            </a:pPr>
            <a:r>
              <a:rPr b="1">
                <a:solidFill>
                  <a:schemeClr val="bg1"/>
                </a:solidFill>
              </a:rPr>
              <a:t>Gran accesibilidad:</a:t>
            </a:r>
            <a:r>
              <a:rPr>
                <a:solidFill>
                  <a:schemeClr val="bg1"/>
                </a:solidFill>
              </a:rPr>
              <a:t> acceso desde herramienta Web muy visual, Cockpit.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b="1">
                <a:solidFill>
                  <a:schemeClr val="bg1"/>
                </a:solidFill>
              </a:rPr>
              <a:t>Automatización:</a:t>
            </a:r>
            <a:r>
              <a:rPr>
                <a:solidFill>
                  <a:schemeClr val="bg1"/>
                </a:solidFill>
              </a:rPr>
              <a:t> </a:t>
            </a:r>
            <a:r>
              <a:rPr>
                <a:solidFill>
                  <a:schemeClr val="bg1"/>
                </a:solidFill>
              </a:rPr>
              <a:t>Despliegues de servidores automatizados por Scripts Bash que  levantan contenedores Podman.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b="1">
                <a:solidFill>
                  <a:schemeClr val="bg1"/>
                </a:solidFill>
              </a:rPr>
              <a:t>Facilidad de Uso: </a:t>
            </a:r>
            <a:r>
              <a:rPr>
                <a:solidFill>
                  <a:schemeClr val="bg1"/>
                </a:solidFill>
              </a:rPr>
              <a:t>Alias vinculados a los Scripts de automatización, y comandos Linux.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79683689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Posibles Desarrollos Posteriores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198603375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>
              <a:lnSpc>
                <a:spcPct val="150000"/>
              </a:lnSpc>
              <a:defRPr/>
            </a:pPr>
            <a:r>
              <a:rPr b="1">
                <a:solidFill>
                  <a:schemeClr val="bg1"/>
                </a:solidFill>
              </a:rPr>
              <a:t>Servidores de monitorización:</a:t>
            </a:r>
            <a:r>
              <a:rPr>
                <a:solidFill>
                  <a:schemeClr val="bg1"/>
                </a:solidFill>
              </a:rPr>
              <a:t> Integrar Prometheus y Grafana mediante Podman para visualizar el rendimiento de los servidores de juegos en tiempo real.</a:t>
            </a:r>
            <a:endParaRPr>
              <a:solidFill>
                <a:schemeClr val="bg1"/>
              </a:solidFill>
            </a:endParaRPr>
          </a:p>
          <a:p>
            <a:pPr>
              <a:defRPr/>
            </a:pPr>
            <a:r>
              <a:rPr b="1">
                <a:solidFill>
                  <a:schemeClr val="bg1"/>
                </a:solidFill>
              </a:rPr>
              <a:t>Nuevos títulos de juegos:</a:t>
            </a:r>
            <a:r>
              <a:rPr>
                <a:solidFill>
                  <a:schemeClr val="bg1"/>
                </a:solidFill>
              </a:rPr>
              <a:t> Ampliar la compatibilidad a servidores que requieran bases de datos internas (como bases de datos SQL para servidores de RPG)</a:t>
            </a:r>
            <a:r>
              <a:rPr sz="1200">
                <a:solidFill>
                  <a:schemeClr val="bg1"/>
                </a:solidFill>
                <a:latin typeface="Times New Roman"/>
                <a:ea typeface="Times New Roman"/>
                <a:cs typeface="Times New Roman"/>
              </a:rPr>
              <a:t>.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2268056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sz="4400" b="1" i="0" u="none">
                <a:solidFill>
                  <a:schemeClr val="bg1"/>
                </a:solidFill>
                <a:latin typeface="Arial"/>
                <a:ea typeface="Arial"/>
                <a:cs typeface="Arial"/>
              </a:rPr>
              <a:t>Recursos bibliográficos y de internet.</a:t>
            </a:r>
            <a:endParaRPr sz="440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71255923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1600201"/>
            <a:ext cx="10972800" cy="4992592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8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Referencias</a:t>
            </a:r>
            <a:r>
              <a:rPr sz="1800">
                <a:solidFill>
                  <a:schemeClr val="bg1"/>
                </a:solidFill>
              </a:rPr>
              <a:t>:</a:t>
            </a:r>
            <a:endParaRPr sz="900">
              <a:solidFill>
                <a:schemeClr val="bg1"/>
              </a:solidFill>
              <a:latin typeface="Arial"/>
              <a:cs typeface="Arial"/>
            </a:endParaRPr>
          </a:p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Fedora Project.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(2024).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Fedora Server Documentation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Recuperado de </a:t>
            </a:r>
            <a:r>
              <a:rPr sz="1400" u="sng">
                <a:solidFill>
                  <a:schemeClr val="bg1"/>
                </a:solidFill>
                <a:latin typeface="Arial"/>
                <a:ea typeface="Arial"/>
                <a:cs typeface="Arial"/>
                <a:hlinkClick r:id="rId3" tooltip="https://docs.fedoraproject.org/en-US/fedora-server/"/>
              </a:rPr>
              <a:t>https://docs.fedoraproject.org/en-US/fedora-server/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Podman Documentation Authors.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(2023).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Podman User Help and Documentation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Recuperado de </a:t>
            </a:r>
            <a:r>
              <a:rPr sz="1400" u="sng">
                <a:solidFill>
                  <a:schemeClr val="bg1"/>
                </a:solidFill>
                <a:latin typeface="Arial"/>
                <a:ea typeface="Arial"/>
                <a:cs typeface="Arial"/>
                <a:hlinkClick r:id="rId4" tooltip="https://docs.podman.io/en/latest/"/>
              </a:rPr>
              <a:t>https://docs.podman.io/en/latest/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Red Hat, Inc.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(2024).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Getting Started with Cockpit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Recuperado de </a:t>
            </a:r>
            <a:r>
              <a:rPr sz="1400" u="sng">
                <a:solidFill>
                  <a:schemeClr val="bg1"/>
                </a:solidFill>
                <a:latin typeface="Arial"/>
                <a:ea typeface="Arial"/>
                <a:cs typeface="Arial"/>
                <a:hlinkClick r:id="rId5" tooltip="https://cockpit-project.org/running.html"/>
              </a:rPr>
              <a:t>https://cockpit-project.org/running.html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Samba Team.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(2024).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Samba How-to Collection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Recuperado de </a:t>
            </a:r>
            <a:r>
              <a:rPr sz="1400" u="sng">
                <a:solidFill>
                  <a:schemeClr val="bg1"/>
                </a:solidFill>
                <a:latin typeface="Arial"/>
                <a:ea typeface="Arial"/>
                <a:cs typeface="Arial"/>
                <a:hlinkClick r:id="rId6" tooltip="https://www.samba.org/samba/docs/"/>
              </a:rPr>
              <a:t>https://www.samba.org/samba/docs/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ZeroTier, Inc.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(2024).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ZeroTier Manual and Knowledge Base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Recuperado de </a:t>
            </a:r>
            <a:r>
              <a:rPr sz="1400" u="sng">
                <a:solidFill>
                  <a:schemeClr val="bg1"/>
                </a:solidFill>
                <a:latin typeface="Arial"/>
                <a:ea typeface="Arial"/>
                <a:cs typeface="Arial"/>
                <a:hlinkClick r:id="rId7" tooltip="https://docs.zerotier.com/"/>
              </a:rPr>
              <a:t>https://docs.zerotier.com/</a:t>
            </a:r>
            <a:endParaRPr sz="900">
              <a:solidFill>
                <a:schemeClr val="bg1"/>
              </a:solidFill>
              <a:latin typeface="Arial"/>
              <a:cs typeface="Arial"/>
            </a:endParaRPr>
          </a:p>
          <a:p>
            <a:pPr marL="0" marR="0" indent="0">
              <a:lnSpc>
                <a:spcPct val="150000"/>
              </a:lnSpc>
              <a:buFont typeface="Arial"/>
              <a:buNone/>
              <a:defRPr/>
            </a:pPr>
            <a:r>
              <a:rPr sz="18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Bibliografía complementaria</a:t>
            </a:r>
            <a:r>
              <a:rPr sz="1800">
                <a:solidFill>
                  <a:schemeClr val="bg1"/>
                </a:solidFill>
              </a:rPr>
              <a:t>:</a:t>
            </a:r>
            <a:endParaRPr sz="900">
              <a:solidFill>
                <a:schemeClr val="bg1"/>
              </a:solidFill>
              <a:latin typeface="Arial"/>
              <a:cs typeface="Arial"/>
            </a:endParaRPr>
          </a:p>
          <a:p>
            <a:pPr marL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Free Software Foundation.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(2023).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GNU Bash Reference Manual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Recuperado de </a:t>
            </a:r>
            <a:r>
              <a:rPr sz="1400" u="sng">
                <a:solidFill>
                  <a:schemeClr val="bg1"/>
                </a:solidFill>
                <a:latin typeface="Arial"/>
                <a:ea typeface="Arial"/>
                <a:cs typeface="Arial"/>
                <a:hlinkClick r:id="rId8" tooltip="https://www.gnu.org/software/bash/manual/"/>
              </a:rPr>
              <a:t>https://www.gnu.org/software/bash/manual/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Negus, C.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(2020).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Linux Bible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(10th ed.). Wiley.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indent="0">
              <a:lnSpc>
                <a:spcPct val="150000"/>
              </a:lnSpc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Shotts, W.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(2019).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The Linux Command Line: A Complete Introduction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(2nd ed.). No Starch Press.</a:t>
            </a:r>
            <a:endParaRPr sz="1400">
              <a:solidFill>
                <a:schemeClr val="bg1"/>
              </a:solidFill>
              <a:latin typeface="Arial"/>
              <a:cs typeface="Arial"/>
            </a:endParaRPr>
          </a:p>
          <a:p>
            <a:pPr marL="0" indent="0">
              <a:buFont typeface="Arial"/>
              <a:buNone/>
              <a:defRPr/>
            </a:pPr>
            <a:r>
              <a:rPr sz="1400" b="1">
                <a:solidFill>
                  <a:schemeClr val="bg1"/>
                </a:solidFill>
                <a:latin typeface="Arial"/>
                <a:ea typeface="Arial"/>
                <a:cs typeface="Arial"/>
              </a:rPr>
              <a:t>Walsh, D.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 (2023). </a:t>
            </a:r>
            <a:r>
              <a:rPr sz="1400" i="1">
                <a:solidFill>
                  <a:schemeClr val="bg1"/>
                </a:solidFill>
                <a:latin typeface="Arial"/>
                <a:ea typeface="Arial"/>
                <a:cs typeface="Arial"/>
              </a:rPr>
              <a:t>Podman in Action: Secure Desktop Container Management</a:t>
            </a:r>
            <a:r>
              <a:rPr sz="1400">
                <a:solidFill>
                  <a:schemeClr val="bg1"/>
                </a:solidFill>
                <a:latin typeface="Arial"/>
                <a:ea typeface="Arial"/>
                <a:cs typeface="Arial"/>
              </a:rPr>
              <a:t>. Manning Publications.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6582924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>
                <a:solidFill>
                  <a:schemeClr val="bg1"/>
                </a:solidFill>
              </a:rPr>
              <a:t>Agradecimientos</a:t>
            </a:r>
            <a:endParaRPr>
              <a:solidFill>
                <a:schemeClr val="bg1"/>
              </a:solidFill>
            </a:endParaRPr>
          </a:p>
        </p:txBody>
      </p:sp>
      <p:sp>
        <p:nvSpPr>
          <p:cNvPr id="34180404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9" y="1600201"/>
            <a:ext cx="5069002" cy="4525962"/>
          </a:xfrm>
        </p:spPr>
        <p:txBody>
          <a:bodyPr/>
          <a:lstStyle/>
          <a:p>
            <a:pPr>
              <a:defRPr/>
            </a:pPr>
            <a:r>
              <a:rPr sz="3200" b="0" i="0" u="none">
                <a:solidFill>
                  <a:schemeClr val="bg1"/>
                </a:solidFill>
                <a:latin typeface="Arial"/>
                <a:ea typeface="Arial"/>
                <a:cs typeface="Arial"/>
              </a:rPr>
              <a:t>A mi tutor por la guía constante, a mi PC por el apoyo, y a todos los que de una forma u otra han hecho posible que este servidor hoy esté corriendo sin errores.</a:t>
            </a:r>
            <a:endParaRPr sz="3200">
              <a:solidFill>
                <a:schemeClr val="bg1"/>
              </a:solidFill>
              <a:latin typeface="Arial"/>
              <a:ea typeface="Arial"/>
              <a:cs typeface="Arial"/>
            </a:endParaRPr>
          </a:p>
          <a:p>
            <a:pPr>
              <a:defRPr/>
            </a:pPr>
            <a:r>
              <a:rPr sz="3200">
                <a:solidFill>
                  <a:schemeClr val="bg1"/>
                </a:solidFill>
                <a:latin typeface="Arial"/>
                <a:ea typeface="Arial"/>
                <a:cs typeface="Arial"/>
              </a:rPr>
              <a:t>Y a Millán por siempre estar ahí.</a:t>
            </a:r>
            <a:endParaRPr>
              <a:solidFill>
                <a:schemeClr val="bg1"/>
              </a:solidFill>
            </a:endParaRPr>
          </a:p>
        </p:txBody>
      </p:sp>
      <p:pic>
        <p:nvPicPr>
          <p:cNvPr id="1878318262" name="Marcador de contenido 3" descr="Goku y Gohan - Hola Muy Buenas Tardes☺️¿Qué Tal Cómo Han... | Facebook"/>
          <p:cNvPicPr/>
          <p:nvPr/>
        </p:nvPicPr>
        <p:blipFill rotWithShape="1">
          <a:blip r:embed="rId3"/>
          <a:stretch/>
        </p:blipFill>
        <p:spPr bwMode="auto">
          <a:xfrm flipH="0" flipV="0">
            <a:off x="5968087" y="1417638"/>
            <a:ext cx="5455431" cy="4605522"/>
          </a:xfrm>
          <a:prstGeom prst="flowChartAlternateProcess">
            <a:avLst/>
          </a:prstGeom>
          <a:ln w="0"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ONLYOFFICE/9.3.1.8</Application>
  <PresentationFormat>On-screen Show (4:3)</PresentationFormat>
  <Paragraphs>0</Paragraphs>
  <Slides>9</Slides>
  <Notes>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8</cp:revision>
  <dcterms:modified xsi:type="dcterms:W3CDTF">2026-05-19T16:00:17Z</dcterms:modified>
</cp:coreProperties>
</file>