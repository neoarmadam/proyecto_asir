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s-E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1142154" name="Marcador de encabezado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2116417149" name="Marcador de fech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s-ES"/>
              <a:t>10/30/2013</a:t>
            </a:fld>
            <a:endParaRPr lang="es-ES"/>
          </a:p>
        </p:txBody>
      </p:sp>
      <p:sp>
        <p:nvSpPr>
          <p:cNvPr id="1449620932" name="Marcador de imagen de diapositiva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s-ES"/>
          </a:p>
        </p:txBody>
      </p:sp>
      <p:sp>
        <p:nvSpPr>
          <p:cNvPr id="1276124437" name="Marcador de notas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  <a:p>
            <a:pPr lvl="1">
              <a:defRPr/>
            </a:pPr>
            <a:r>
              <a:rPr lang="es-ES"/>
              <a:t>Segundo nivel</a:t>
            </a:r>
            <a:endParaRPr/>
          </a:p>
          <a:p>
            <a:pPr lvl="2">
              <a:defRPr/>
            </a:pPr>
            <a:r>
              <a:rPr lang="es-ES"/>
              <a:t>Tercer nivel</a:t>
            </a:r>
            <a:endParaRPr/>
          </a:p>
          <a:p>
            <a:pPr lvl="3">
              <a:defRPr/>
            </a:pPr>
            <a:r>
              <a:rPr lang="es-ES"/>
              <a:t>Cuarto nivel</a:t>
            </a:r>
            <a:endParaRPr/>
          </a:p>
          <a:p>
            <a:pPr lvl="4">
              <a:defRPr/>
            </a:pPr>
            <a:r>
              <a:rPr lang="es-ES"/>
              <a:t>Quinto nivel</a:t>
            </a:r>
            <a:endParaRPr lang="es-ES"/>
          </a:p>
        </p:txBody>
      </p:sp>
      <p:sp>
        <p:nvSpPr>
          <p:cNvPr id="1787378672" name="Marcador de pie de página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806338281" name="Marcador de número de diapositiva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s-ES"/>
              <a:t>‹#›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791850" name="Marcador de imagen de diapositiva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6219035" name="Marcador de notas 4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s-ES">
              <a:latin typeface="Arial"/>
              <a:cs typeface="Arial"/>
            </a:endParaRPr>
          </a:p>
        </p:txBody>
      </p:sp>
      <p:sp>
        <p:nvSpPr>
          <p:cNvPr id="561821470" name="Marcador de número de diapositiva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s-ES"/>
              <a:t>1</a:t>
            </a:fld>
            <a:endParaRPr lang="es-E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57692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21239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14395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0BD641-35C8-9F99-74BB-995578EA97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6373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9217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3259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075D1C-D1EF-2AF5-01F5-1DA08A9416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75383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835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0650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398AFE-4419-8F31-3785-E6C8281AD2D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820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1427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8771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8B513B-7ACF-EC0C-1B7C-CEB09476CA5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83099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01529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4623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14520F-F242-84FA-2E0B-F451639017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8247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894051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7097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DCAB2E-5350-C644-ED9C-80B85FF74B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30011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28355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0089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0D4025-FDF9-D5BF-E4D5-F120F098AE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17901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77463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6952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BC9D7D-E86F-87CB-958C-42E31B65C26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4755071" name="Title 1"/>
          <p:cNvSpPr>
            <a:spLocks noGrp="1"/>
          </p:cNvSpPr>
          <p:nvPr>
            <p:ph type="ctrTitle"/>
          </p:nvPr>
        </p:nvSpPr>
        <p:spPr bwMode="auto">
          <a:xfrm>
            <a:off x="1523999" y="1122362"/>
            <a:ext cx="9144000" cy="2387599"/>
          </a:xfrm>
        </p:spPr>
        <p:txBody>
          <a:bodyPr anchor="b"/>
          <a:lstStyle>
            <a:lvl1pPr algn="ctr"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4491209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602037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8401501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29716539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03834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6861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1322515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983177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41266675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786012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3331945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8474926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6288925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1384113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420537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32168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7655679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198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979897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173818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00796140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77210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0791445" name="Title 1"/>
          <p:cNvSpPr>
            <a:spLocks noGrp="1"/>
          </p:cNvSpPr>
          <p:nvPr>
            <p:ph type="title"/>
          </p:nvPr>
        </p:nvSpPr>
        <p:spPr bwMode="auto">
          <a:xfrm>
            <a:off x="839787" y="365125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2061438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9" y="1681162"/>
            <a:ext cx="5157785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64323255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9" y="2505074"/>
            <a:ext cx="5157785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4031598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2"/>
            <a:ext cx="5183187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27326242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7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9558270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5096440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77444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91514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5797925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4404687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17734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83214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50955387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509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6003452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60876261" name="Content Placeholder 2"/>
          <p:cNvSpPr>
            <a:spLocks noGrp="1"/>
          </p:cNvSpPr>
          <p:nvPr>
            <p:ph idx="1"/>
          </p:nvPr>
        </p:nvSpPr>
        <p:spPr bwMode="auto">
          <a:xfrm>
            <a:off x="5183187" y="987425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8294426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5663971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33161122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78356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751628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8134796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7" y="987425"/>
            <a:ext cx="6172200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164533136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99305960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06911566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77221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5053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4685631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7502984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96650771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996404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322151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899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2297697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198" y="365125"/>
            <a:ext cx="7734299" cy="5811838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409361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3248639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7056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1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2943726" name="Title Placeholder 1"/>
          <p:cNvSpPr>
            <a:spLocks noGrp="1"/>
          </p:cNvSpPr>
          <p:nvPr>
            <p:ph type="title"/>
          </p:nvPr>
        </p:nvSpPr>
        <p:spPr bwMode="auto">
          <a:xfrm>
            <a:off x="838198" y="365125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6229248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198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8188168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04427682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86206457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>
        <a:lnSpc>
          <a:spcPct val="90000"/>
        </a:lnSpc>
        <a:spcBef>
          <a:spcPts val="0"/>
        </a:spcBef>
        <a:buNone/>
        <a:defRPr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>
        <a:lnSpc>
          <a:spcPct val="90000"/>
        </a:lnSpc>
        <a:spcBef>
          <a:spcPts val="749"/>
        </a:spcBef>
        <a:buFont typeface="Arial"/>
        <a:buChar char="•"/>
        <a:defRPr sz="21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media1.sv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docs.fedoraproject.org/en-US/fedora-server/" TargetMode="External"/><Relationship Id="rId4" Type="http://schemas.openxmlformats.org/officeDocument/2006/relationships/hyperlink" Target="https://docs.podman.io/en/latest/" TargetMode="External"/><Relationship Id="rId5" Type="http://schemas.openxmlformats.org/officeDocument/2006/relationships/hyperlink" Target="https://cockpit-project.org/running.html" TargetMode="External"/><Relationship Id="rId6" Type="http://schemas.openxmlformats.org/officeDocument/2006/relationships/hyperlink" Target="https://www.samba.org/samba/docs/" TargetMode="External"/><Relationship Id="rId7" Type="http://schemas.openxmlformats.org/officeDocument/2006/relationships/hyperlink" Target="https://docs.zerotier.com/" TargetMode="External"/><Relationship Id="rId8" Type="http://schemas.openxmlformats.org/officeDocument/2006/relationships/hyperlink" Target="https://www.gnu.org/software/bash/manual/" TargetMode="Externa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807503" name="Título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>
                <a:solidFill>
                  <a:schemeClr val="bg1"/>
                </a:solidFill>
              </a:rPr>
              <a:t>Entorno de Servidor Neo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52312042" name="Subtítulo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s-ES">
                <a:solidFill>
                  <a:schemeClr val="bg1"/>
                </a:solidFill>
              </a:rPr>
              <a:t>Neo Armada Montero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lang="es-ES">
                <a:solidFill>
                  <a:schemeClr val="bg1"/>
                </a:solidFill>
              </a:rPr>
              <a:t>2º ASIR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85760589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773596" y="33833"/>
            <a:ext cx="2785368" cy="27853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9172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Presentación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803676497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>
              <a:buFont typeface="Arial"/>
              <a:buNone/>
              <a:defRPr/>
            </a:pPr>
            <a:r>
              <a:rPr sz="3200" b="0" i="0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Optimización y automatización de entornos Fedora Server mediante el despliegue de scripts personalizados y una capa de alias optimizada para mejorar la eficiencia operativa.</a:t>
            </a:r>
            <a:endParaRPr sz="3200" b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3200" b="0">
                <a:solidFill>
                  <a:schemeClr val="bg1"/>
                </a:solidFill>
                <a:latin typeface="Arial"/>
                <a:ea typeface="Arial"/>
                <a:cs typeface="Arial"/>
              </a:rPr>
              <a:t>Scripts: Automatizan funciones del servidor.</a:t>
            </a:r>
            <a:endParaRPr sz="3200" b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3200" b="0">
                <a:solidFill>
                  <a:schemeClr val="bg1"/>
                </a:solidFill>
                <a:latin typeface="Arial"/>
                <a:ea typeface="Arial"/>
                <a:cs typeface="Arial"/>
              </a:rPr>
              <a:t>Alias: Facilitan la ejecución de comandos o Scripts en el servidor.</a:t>
            </a:r>
            <a:endParaRPr sz="3200" b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3200" b="0">
                <a:solidFill>
                  <a:schemeClr val="bg1"/>
                </a:solidFill>
                <a:latin typeface="Arial"/>
                <a:ea typeface="Arial"/>
                <a:cs typeface="Arial"/>
              </a:rPr>
              <a:t>Cockpit: Herramienta Web para acceso remoto al servidor.</a:t>
            </a:r>
            <a:endParaRPr sz="3200" b="0" i="0" u="none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39561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Herramientas de Software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85667086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Fedora Server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Podman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Visual Studio Code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KVM/Qemu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Cockpit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Bash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GitHub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48218914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049827" y="1623389"/>
            <a:ext cx="1017336" cy="1017336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48982032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343018" y="1919346"/>
            <a:ext cx="599982" cy="599982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934309393" name="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flipH="0" flipV="0">
            <a:off x="8820567" y="2997572"/>
            <a:ext cx="627567" cy="627567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2045029893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9787615" y="2727648"/>
            <a:ext cx="583708" cy="583708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986492669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9115073" y="3814529"/>
            <a:ext cx="666123" cy="666123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458551167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9986087" y="3692302"/>
            <a:ext cx="617981" cy="617981"/>
          </a:xfrm>
          <a:prstGeom prst="flowChartAlternateProcess">
            <a:avLst/>
          </a:prstGeom>
        </p:spPr>
      </p:pic>
      <p:pic>
        <p:nvPicPr>
          <p:cNvPr id="920037774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9643010" y="4649940"/>
            <a:ext cx="872919" cy="849278"/>
          </a:xfrm>
          <a:prstGeom prst="flowChartAlternateProcess">
            <a:avLst/>
          </a:prstGeom>
          <a:solidFill>
            <a:schemeClr val="bg1"/>
          </a:solidFill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085918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Herramientas Hardware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31143732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AMD Ryzen 7 3700X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32 GB DDR4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SSD 512(Partición Dedicada a VMs)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Nvidia RTX 2060 6GB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Periféricos(Monitor, teclado, raton, ect)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324571579" name="Imagen 3" descr=""/>
          <p:cNvPicPr/>
          <p:nvPr/>
        </p:nvPicPr>
        <p:blipFill rotWithShape="1">
          <a:blip r:embed="rId3"/>
          <a:srcRect l="0" t="376" r="0" b="376"/>
          <a:stretch/>
        </p:blipFill>
        <p:spPr bwMode="auto">
          <a:xfrm rot="0" flipH="0" flipV="0">
            <a:off x="8215980" y="1357407"/>
            <a:ext cx="3497154" cy="3389833"/>
          </a:xfrm>
          <a:prstGeom prst="flowChartAlternateProcess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13163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609599" y="274638"/>
            <a:ext cx="8496135" cy="114300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Estructura general de la Base de Datos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17319827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600201"/>
            <a:ext cx="8365399" cy="4525962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No hay base de datos, pero existe una jerarquía </a:t>
            </a:r>
            <a:r>
              <a:rPr>
                <a:solidFill>
                  <a:schemeClr val="bg1"/>
                </a:solidFill>
              </a:rPr>
              <a:t>en cuanto a la distribución de los Scripts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82522441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80232" y="144742"/>
            <a:ext cx="2590799" cy="6381749"/>
          </a:xfrm>
          <a:prstGeom prst="flowChartAlternateProcess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66697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Funcionalidades Destacadas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35193061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b="1">
                <a:solidFill>
                  <a:schemeClr val="bg1"/>
                </a:solidFill>
              </a:rPr>
              <a:t>Gran accesibilidad:</a:t>
            </a:r>
            <a:r>
              <a:rPr>
                <a:solidFill>
                  <a:schemeClr val="bg1"/>
                </a:solidFill>
              </a:rPr>
              <a:t> acceso desde herramienta Web muy visual Cockpit.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b="1">
                <a:solidFill>
                  <a:schemeClr val="bg1"/>
                </a:solidFill>
              </a:rPr>
              <a:t>Automatización:</a:t>
            </a:r>
            <a:r>
              <a:rPr>
                <a:solidFill>
                  <a:schemeClr val="bg1"/>
                </a:solidFill>
              </a:rPr>
              <a:t> </a:t>
            </a:r>
            <a:r>
              <a:rPr>
                <a:solidFill>
                  <a:schemeClr val="bg1"/>
                </a:solidFill>
              </a:rPr>
              <a:t>Despliegues de servidores automatizados por Scripts Bash que  levantan contenedores Podman.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b="1">
                <a:solidFill>
                  <a:schemeClr val="bg1"/>
                </a:solidFill>
              </a:rPr>
              <a:t>Facilidad de Uso: </a:t>
            </a:r>
            <a:r>
              <a:rPr>
                <a:solidFill>
                  <a:schemeClr val="bg1"/>
                </a:solidFill>
              </a:rPr>
              <a:t>Alias vinculados a los Scripts de automatización, y comandos Linux.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254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Posibles Desarrollos Posteriores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146646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lnSpc>
                <a:spcPct val="150000"/>
              </a:lnSpc>
              <a:defRPr/>
            </a:pPr>
            <a:r>
              <a:rPr b="1">
                <a:solidFill>
                  <a:schemeClr val="bg1"/>
                </a:solidFill>
              </a:rPr>
              <a:t>Servidores de monitorización:</a:t>
            </a:r>
            <a:r>
              <a:rPr>
                <a:solidFill>
                  <a:schemeClr val="bg1"/>
                </a:solidFill>
              </a:rPr>
              <a:t> Integrar Prometheus y Grafana mediante Podman para visualizar el rendimiento de los servidores de juegos en tiempo real.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b="1">
                <a:solidFill>
                  <a:schemeClr val="bg1"/>
                </a:solidFill>
              </a:rPr>
              <a:t>Nuevos títulos de juegos:</a:t>
            </a:r>
            <a:r>
              <a:rPr>
                <a:solidFill>
                  <a:schemeClr val="bg1"/>
                </a:solidFill>
              </a:rPr>
              <a:t> Ampliar la compatibilidad a servidores que requieran bases de datos internas (como bases de datos SQL para servidores de RPG)</a:t>
            </a:r>
            <a:r>
              <a:rPr sz="120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2331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sz="4400" b="1" i="0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Recursos bibliográficos y de internet.</a:t>
            </a:r>
            <a:endParaRPr sz="44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85945720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600201"/>
            <a:ext cx="10972800" cy="499259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8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Referencias</a:t>
            </a:r>
            <a:r>
              <a:rPr sz="1800">
                <a:solidFill>
                  <a:schemeClr val="bg1"/>
                </a:solidFill>
              </a:rPr>
              <a:t>:</a:t>
            </a:r>
            <a:endParaRPr sz="9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Fedora Project.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(2024).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Fedora Server Documentation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3" tooltip="https://docs.fedoraproject.org/en-US/fedora-server/"/>
              </a:rPr>
              <a:t>https://docs.fedoraproject.org/en-US/fedora-server/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Podman Documentation Authors.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(2023).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Podman User Help and Documentation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4" tooltip="https://docs.podman.io/en/latest/"/>
              </a:rPr>
              <a:t>https://docs.podman.io/en/latest/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Red Hat, Inc.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(2024).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Getting Started with Cockpit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5" tooltip="https://cockpit-project.org/running.html"/>
              </a:rPr>
              <a:t>https://cockpit-project.org/running.html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Samba Team.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(2024).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Samba How-to Collection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6" tooltip="https://www.samba.org/samba/docs/"/>
              </a:rPr>
              <a:t>https://www.samba.org/samba/docs/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ZeroTier, Inc.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(2024).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ZeroTier Manual and Knowledge Base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7" tooltip="https://docs.zerotier.com/"/>
              </a:rPr>
              <a:t>https://docs.zerotier.com/</a:t>
            </a:r>
            <a:endParaRPr sz="9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8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Bibliografía complementaria</a:t>
            </a:r>
            <a:r>
              <a:rPr sz="1800">
                <a:solidFill>
                  <a:schemeClr val="bg1"/>
                </a:solidFill>
              </a:rPr>
              <a:t>:</a:t>
            </a:r>
            <a:endParaRPr sz="90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Free Software Foundation.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(2023).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GNU Bash Reference Manual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8" tooltip="https://www.gnu.org/software/bash/manual/"/>
              </a:rPr>
              <a:t>https://www.gnu.org/software/bash/manual/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Negus, C.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(2020).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Linux Bible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(10th ed.). Wiley.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Shotts, W.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(2019).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The Linux Command Line: A Complete Introduction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(2nd ed.). No Starch Press.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Walsh, D.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(2023).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Podman in Action: Secure Desktop Container Management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Manning Publications.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8469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Agradecimientos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30993144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600201"/>
            <a:ext cx="5069002" cy="4525962"/>
          </a:xfrm>
        </p:spPr>
        <p:txBody>
          <a:bodyPr/>
          <a:lstStyle/>
          <a:p>
            <a:pPr>
              <a:defRPr/>
            </a:pPr>
            <a:endParaRPr>
              <a:solidFill>
                <a:schemeClr val="bg1"/>
              </a:solidFill>
            </a:endParaRPr>
          </a:p>
        </p:txBody>
      </p:sp>
      <p:pic>
        <p:nvPicPr>
          <p:cNvPr id="1319890621" name="Marcador de contenido 3" descr="Goku y Gohan - Hola Muy Buenas Tardes☺️¿Qué Tal Cómo Han... | Facebook"/>
          <p:cNvPicPr/>
          <p:nvPr/>
        </p:nvPicPr>
        <p:blipFill rotWithShape="1">
          <a:blip r:embed="rId3"/>
          <a:stretch/>
        </p:blipFill>
        <p:spPr bwMode="auto">
          <a:xfrm flipH="0" flipV="0">
            <a:off x="5968087" y="1417638"/>
            <a:ext cx="5455431" cy="4605522"/>
          </a:xfrm>
          <a:prstGeom prst="flowChartAlternateProcess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9</Slides>
  <Notes>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2026-05-18T14:21:51Z</dcterms:modified>
</cp:coreProperties>
</file>