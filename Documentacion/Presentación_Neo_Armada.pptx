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788364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32634434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193327548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600061355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254214822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52861487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660152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033468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1453232540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0155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6448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0BD641-35C8-9F99-74BB-995578EA97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3994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0933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717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075D1C-D1EF-2AF5-01F5-1DA08A9416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3697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6119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167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398AFE-4419-8F31-3785-E6C8281AD2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48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602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995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8B513B-7ACF-EC0C-1B7C-CEB09476CA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7486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2604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0713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14520F-F242-84FA-2E0B-F451639017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816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1075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27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DCAB2E-5350-C644-ED9C-80B85FF74B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933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9410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999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0D4025-FDF9-D5BF-E4D5-F120F098AE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076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8285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623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C9D7D-E86F-87CB-958C-42E31B65C2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8840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0537563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8759960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9619363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511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239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6876776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13725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71919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9344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83659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603755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152438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7186225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5312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05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6576932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1974052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729826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954534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6600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15796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33712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168364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0786606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5130989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6163236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290708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57482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148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4213197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7683234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73773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36807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9215582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39014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048367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51235725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746283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632349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81006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005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20178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9538171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6447255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70772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475629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396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2510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1860711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832373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1817812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480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17790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985703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015265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2944829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0825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26120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887710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3829102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46349716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585665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media1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fedoraproject.org/en-US/fedora-server/" TargetMode="External"/><Relationship Id="rId4" Type="http://schemas.openxmlformats.org/officeDocument/2006/relationships/hyperlink" Target="https://docs.podman.io/en/latest/" TargetMode="External"/><Relationship Id="rId5" Type="http://schemas.openxmlformats.org/officeDocument/2006/relationships/hyperlink" Target="https://cockpit-project.org/running.html" TargetMode="External"/><Relationship Id="rId6" Type="http://schemas.openxmlformats.org/officeDocument/2006/relationships/hyperlink" Target="https://www.samba.org/samba/docs/" TargetMode="External"/><Relationship Id="rId7" Type="http://schemas.openxmlformats.org/officeDocument/2006/relationships/hyperlink" Target="https://docs.zerotier.com/" TargetMode="External"/><Relationship Id="rId8" Type="http://schemas.openxmlformats.org/officeDocument/2006/relationships/hyperlink" Target="https://www.gnu.org/software/bash/manual/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883665" name="Título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solidFill>
                  <a:schemeClr val="bg1"/>
                </a:solidFill>
              </a:rPr>
              <a:t>Entorno de Servidor Neo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90409155" name="Subtítulo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>
                <a:solidFill>
                  <a:schemeClr val="bg1"/>
                </a:solidFill>
              </a:rPr>
              <a:t>Neo Armada Montero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lang="es-ES">
                <a:solidFill>
                  <a:schemeClr val="bg1"/>
                </a:solidFill>
              </a:rPr>
              <a:t>Camino de la Miranda, 2º ASIR</a:t>
            </a:r>
            <a:endParaRPr lang="es-ES">
              <a:solidFill>
                <a:schemeClr val="bg1"/>
              </a:solidFill>
            </a:endParaRPr>
          </a:p>
          <a:p>
            <a:pPr>
              <a:defRPr/>
            </a:pPr>
            <a:r>
              <a:rPr lang="es-E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https://github.com/Neoarmadam/Proyecto_ASIR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5827361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773596" y="33833"/>
            <a:ext cx="2785368" cy="2785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2359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Presentación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82293443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sz="3200" b="0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Optimización y automatización de entornos Fedora Server mediante el despliegue de scripts personalizados y una capa de alias optimizada para mejorar la eficiencia operativa.</a:t>
            </a:r>
            <a:endParaRPr sz="3200" b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32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Scripts: Automatizan funciones del servidor.</a:t>
            </a:r>
            <a:endParaRPr sz="3200" b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32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Alias: Facilitan la ejecución de comandos o Scripts en el servidor.</a:t>
            </a:r>
            <a:endParaRPr sz="3200" b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32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Cockpit: Herramienta Web para acceso remoto al servidor.</a:t>
            </a:r>
            <a:endParaRPr sz="3200" b="0" i="0" u="none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3153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Herramientas de Software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44587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200">
                <a:solidFill>
                  <a:schemeClr val="bg1"/>
                </a:solidFill>
              </a:rPr>
              <a:t>Fedora Server</a:t>
            </a:r>
            <a:endParaRPr sz="3200">
              <a:solidFill>
                <a:schemeClr val="bg1"/>
              </a:solidFill>
            </a:endParaRPr>
          </a:p>
          <a:p>
            <a:pPr>
              <a:defRPr/>
            </a:pPr>
            <a:r>
              <a:rPr sz="3200">
                <a:solidFill>
                  <a:schemeClr val="bg1"/>
                </a:solidFill>
              </a:rPr>
              <a:t>Podman</a:t>
            </a:r>
            <a:endParaRPr sz="3200">
              <a:solidFill>
                <a:schemeClr val="bg1"/>
              </a:solidFill>
            </a:endParaRPr>
          </a:p>
          <a:p>
            <a:pPr>
              <a:defRPr/>
            </a:pPr>
            <a:r>
              <a:rPr sz="3200">
                <a:solidFill>
                  <a:schemeClr val="bg1"/>
                </a:solidFill>
              </a:rPr>
              <a:t>Visual Studio Code</a:t>
            </a:r>
            <a:endParaRPr sz="3200">
              <a:solidFill>
                <a:schemeClr val="bg1"/>
              </a:solidFill>
            </a:endParaRPr>
          </a:p>
          <a:p>
            <a:pPr>
              <a:defRPr/>
            </a:pPr>
            <a:r>
              <a:rPr sz="3200">
                <a:solidFill>
                  <a:schemeClr val="bg1"/>
                </a:solidFill>
              </a:rPr>
              <a:t>KVM/Qemu</a:t>
            </a:r>
            <a:endParaRPr sz="3200">
              <a:solidFill>
                <a:schemeClr val="bg1"/>
              </a:solidFill>
            </a:endParaRPr>
          </a:p>
          <a:p>
            <a:pPr>
              <a:defRPr/>
            </a:pPr>
            <a:r>
              <a:rPr sz="3200">
                <a:solidFill>
                  <a:schemeClr val="bg1"/>
                </a:solidFill>
              </a:rPr>
              <a:t>Cockpit</a:t>
            </a:r>
            <a:endParaRPr sz="3200">
              <a:solidFill>
                <a:schemeClr val="bg1"/>
              </a:solidFill>
            </a:endParaRPr>
          </a:p>
          <a:p>
            <a:pPr>
              <a:defRPr/>
            </a:pPr>
            <a:r>
              <a:rPr sz="3200">
                <a:solidFill>
                  <a:schemeClr val="bg1"/>
                </a:solidFill>
              </a:rPr>
              <a:t>Bash</a:t>
            </a:r>
            <a:endParaRPr sz="3200">
              <a:solidFill>
                <a:schemeClr val="bg1"/>
              </a:solidFill>
            </a:endParaRPr>
          </a:p>
          <a:p>
            <a:pPr>
              <a:defRPr/>
            </a:pPr>
            <a:r>
              <a:rPr sz="3200">
                <a:solidFill>
                  <a:schemeClr val="bg1"/>
                </a:solidFill>
              </a:rPr>
              <a:t>GitHub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9478036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049827" y="1623389"/>
            <a:ext cx="1017336" cy="1017336"/>
          </a:xfrm>
          <a:prstGeom prst="flowChartAlternateProcess">
            <a:avLst/>
          </a:prstGeom>
          <a:solidFill>
            <a:schemeClr val="bg1"/>
          </a:solidFill>
        </p:spPr>
      </p:pic>
      <p:pic>
        <p:nvPicPr>
          <p:cNvPr id="4395042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343018" y="1919346"/>
            <a:ext cx="599982" cy="599982"/>
          </a:xfrm>
          <a:prstGeom prst="flowChartAlternateProcess">
            <a:avLst/>
          </a:prstGeom>
          <a:solidFill>
            <a:schemeClr val="bg1"/>
          </a:solidFill>
        </p:spPr>
      </p:pic>
      <p:pic>
        <p:nvPicPr>
          <p:cNvPr id="531751995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8820567" y="2997572"/>
            <a:ext cx="627566" cy="627566"/>
          </a:xfrm>
          <a:prstGeom prst="flowChartAlternateProcess">
            <a:avLst/>
          </a:prstGeom>
          <a:solidFill>
            <a:schemeClr val="bg1"/>
          </a:solidFill>
        </p:spPr>
      </p:pic>
      <p:pic>
        <p:nvPicPr>
          <p:cNvPr id="488456905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9787615" y="2727648"/>
            <a:ext cx="583708" cy="583708"/>
          </a:xfrm>
          <a:prstGeom prst="flowChartAlternateProcess">
            <a:avLst/>
          </a:prstGeom>
          <a:solidFill>
            <a:schemeClr val="bg1"/>
          </a:solidFill>
        </p:spPr>
      </p:pic>
      <p:pic>
        <p:nvPicPr>
          <p:cNvPr id="1760771934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9115073" y="3814529"/>
            <a:ext cx="666123" cy="666123"/>
          </a:xfrm>
          <a:prstGeom prst="flowChartAlternateProcess">
            <a:avLst/>
          </a:prstGeom>
          <a:solidFill>
            <a:schemeClr val="bg1"/>
          </a:solidFill>
        </p:spPr>
      </p:pic>
      <p:pic>
        <p:nvPicPr>
          <p:cNvPr id="806230946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9986087" y="3692302"/>
            <a:ext cx="617981" cy="617981"/>
          </a:xfrm>
          <a:prstGeom prst="flowChartAlternateProcess">
            <a:avLst/>
          </a:prstGeom>
        </p:spPr>
      </p:pic>
      <p:pic>
        <p:nvPicPr>
          <p:cNvPr id="1282977023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9643010" y="4649940"/>
            <a:ext cx="872919" cy="849278"/>
          </a:xfrm>
          <a:prstGeom prst="flowChartAlternateProcess">
            <a:avLst/>
          </a:prstGeom>
          <a:solidFill>
            <a:schemeClr val="bg1"/>
          </a:solidFill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1587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Herramientas Hardware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3861420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AMD Ryzen 7 3700X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32 GB DDR4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SSD 512(Partición Dedicada a VMs)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Nvidia RTX 2060 6GB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Periféricos(Monitor, teclado, ratón, ect)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702332411" name="Imagen 3" descr=""/>
          <p:cNvPicPr/>
          <p:nvPr/>
        </p:nvPicPr>
        <p:blipFill rotWithShape="1">
          <a:blip r:embed="rId3"/>
          <a:srcRect l="0" t="376" r="0" b="376"/>
          <a:stretch/>
        </p:blipFill>
        <p:spPr bwMode="auto">
          <a:xfrm rot="0" flipH="0" flipV="0">
            <a:off x="8215980" y="1357407"/>
            <a:ext cx="3497154" cy="3389833"/>
          </a:xfrm>
          <a:prstGeom prst="flowChartAlternateProcess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72182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09599" y="274638"/>
            <a:ext cx="8496135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Estructura general de la Base de Datos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84035356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8365399" cy="4525962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>
                <a:solidFill>
                  <a:schemeClr val="bg1"/>
                </a:solidFill>
              </a:rPr>
              <a:t>No hay base de datos, pero existe una jerarquía </a:t>
            </a:r>
            <a:r>
              <a:rPr>
                <a:solidFill>
                  <a:schemeClr val="bg1"/>
                </a:solidFill>
              </a:rPr>
              <a:t>en cuanto a la distribución de los Scripts: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Se separa la memoria.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Se separa el Script de Españolizacion inicial, el de Alias y el Script encargado de actualizar el repositorio</a:t>
            </a:r>
            <a:r>
              <a:rPr>
                <a:solidFill>
                  <a:schemeClr val="bg1"/>
                </a:solidFill>
              </a:rPr>
              <a:t>.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Se separan los Scripts de Samba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Se separa los Scripts que levantan servidores en Podman, gestionados por un Script padre.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60007904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80232" y="144742"/>
            <a:ext cx="2590799" cy="6381749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118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Funcionalidades Destacadas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922472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600" b="1">
                <a:solidFill>
                  <a:schemeClr val="bg1"/>
                </a:solidFill>
              </a:rPr>
              <a:t>Gran accesibilidad:</a:t>
            </a:r>
            <a:r>
              <a:rPr sz="3600">
                <a:solidFill>
                  <a:schemeClr val="bg1"/>
                </a:solidFill>
              </a:rPr>
              <a:t> acceso desde herramienta Web muy visual, Cockpit.</a:t>
            </a:r>
            <a:endParaRPr sz="3600">
              <a:solidFill>
                <a:schemeClr val="bg1"/>
              </a:solidFill>
            </a:endParaRPr>
          </a:p>
          <a:p>
            <a:pPr>
              <a:defRPr/>
            </a:pPr>
            <a:r>
              <a:rPr sz="3600" b="1">
                <a:solidFill>
                  <a:schemeClr val="bg1"/>
                </a:solidFill>
              </a:rPr>
              <a:t>Automatización:</a:t>
            </a:r>
            <a:r>
              <a:rPr sz="3600">
                <a:solidFill>
                  <a:schemeClr val="bg1"/>
                </a:solidFill>
              </a:rPr>
              <a:t> </a:t>
            </a:r>
            <a:r>
              <a:rPr sz="3600">
                <a:solidFill>
                  <a:schemeClr val="bg1"/>
                </a:solidFill>
              </a:rPr>
              <a:t>Despliegues de servidores automatizados por Scripts Bash que  levantan contenedores Podman.</a:t>
            </a:r>
            <a:endParaRPr sz="3600">
              <a:solidFill>
                <a:schemeClr val="bg1"/>
              </a:solidFill>
            </a:endParaRPr>
          </a:p>
          <a:p>
            <a:pPr>
              <a:defRPr/>
            </a:pPr>
            <a:r>
              <a:rPr sz="3600" b="1">
                <a:solidFill>
                  <a:schemeClr val="bg1"/>
                </a:solidFill>
              </a:rPr>
              <a:t>Facilidad de Uso: </a:t>
            </a:r>
            <a:r>
              <a:rPr sz="3600">
                <a:solidFill>
                  <a:schemeClr val="bg1"/>
                </a:solidFill>
              </a:rPr>
              <a:t>Alias vinculados a los Scripts de automatización, y comandos Linux.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6734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Posibles Desarrollos Posteriores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40248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b="1">
                <a:solidFill>
                  <a:schemeClr val="bg1"/>
                </a:solidFill>
              </a:rPr>
              <a:t>Servidores de monitorización:</a:t>
            </a:r>
            <a:r>
              <a:rPr>
                <a:solidFill>
                  <a:schemeClr val="bg1"/>
                </a:solidFill>
              </a:rPr>
              <a:t> Integrar Prometheus y Grafana mediante Podman para visualizar el rendimiento de los servidores de juegos en tiempo real.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b="1">
                <a:solidFill>
                  <a:schemeClr val="bg1"/>
                </a:solidFill>
              </a:rPr>
              <a:t>Nuevos títulos de juegos:</a:t>
            </a:r>
            <a:r>
              <a:rPr>
                <a:solidFill>
                  <a:schemeClr val="bg1"/>
                </a:solidFill>
              </a:rPr>
              <a:t> Ampliar la compatibilidad a servidores que requieran bases de datos internas (como bases de datos SQL para servidores de RPG)</a:t>
            </a:r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1628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4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Recursos bibliográficos y de internet.</a:t>
            </a:r>
            <a:endParaRPr sz="44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7297834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10972800" cy="499259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>
              <a:lnSpc>
                <a:spcPct val="150000"/>
              </a:lnSpc>
              <a:buFont typeface="Arial"/>
              <a:buNone/>
              <a:defRPr/>
            </a:pPr>
            <a:r>
              <a:rPr sz="18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Referencias</a:t>
            </a:r>
            <a:r>
              <a:rPr sz="1800">
                <a:solidFill>
                  <a:schemeClr val="bg1"/>
                </a:solidFill>
              </a:rPr>
              <a:t>:</a:t>
            </a:r>
            <a:endParaRPr sz="900">
              <a:solidFill>
                <a:schemeClr val="bg1"/>
              </a:solidFill>
              <a:latin typeface="Arial"/>
              <a:cs typeface="Arial"/>
            </a:endParaRPr>
          </a:p>
          <a:p>
            <a:pPr marL="0" marR="0" indent="0">
              <a:lnSpc>
                <a:spcPct val="150000"/>
              </a:lnSpc>
              <a:buFont typeface="Arial"/>
              <a:buNone/>
              <a:defRPr/>
            </a:pPr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Fedora Project.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 (2024). </a:t>
            </a:r>
            <a:r>
              <a:rPr sz="1400" i="1">
                <a:solidFill>
                  <a:schemeClr val="bg1"/>
                </a:solidFill>
                <a:latin typeface="Arial"/>
                <a:ea typeface="Arial"/>
                <a:cs typeface="Arial"/>
              </a:rPr>
              <a:t>Fedora Server Documentation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. Recuperado de </a:t>
            </a:r>
            <a:r>
              <a:rPr sz="1400" u="sng">
                <a:solidFill>
                  <a:schemeClr val="bg1"/>
                </a:solidFill>
                <a:latin typeface="Arial"/>
                <a:ea typeface="Arial"/>
                <a:cs typeface="Arial"/>
                <a:hlinkClick r:id="rId3" tooltip="https://docs.fedoraproject.org/en-US/fedora-server/"/>
              </a:rPr>
              <a:t>https://docs.fedoraproject.org/en-US/fedora-server/</a:t>
            </a:r>
            <a:endParaRPr sz="1400">
              <a:solidFill>
                <a:schemeClr val="bg1"/>
              </a:solidFill>
              <a:latin typeface="Arial"/>
              <a:cs typeface="Arial"/>
            </a:endParaRPr>
          </a:p>
          <a:p>
            <a:pPr marL="0" marR="0" indent="0">
              <a:lnSpc>
                <a:spcPct val="150000"/>
              </a:lnSpc>
              <a:buFont typeface="Arial"/>
              <a:buNone/>
              <a:defRPr/>
            </a:pPr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Podman Documentation Authors.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 (2023). </a:t>
            </a:r>
            <a:r>
              <a:rPr sz="1400" i="1">
                <a:solidFill>
                  <a:schemeClr val="bg1"/>
                </a:solidFill>
                <a:latin typeface="Arial"/>
                <a:ea typeface="Arial"/>
                <a:cs typeface="Arial"/>
              </a:rPr>
              <a:t>Podman User Help and Documentation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. Recuperado de </a:t>
            </a:r>
            <a:r>
              <a:rPr sz="1400" u="sng">
                <a:solidFill>
                  <a:schemeClr val="bg1"/>
                </a:solidFill>
                <a:latin typeface="Arial"/>
                <a:ea typeface="Arial"/>
                <a:cs typeface="Arial"/>
                <a:hlinkClick r:id="rId4" tooltip="https://docs.podman.io/en/latest/"/>
              </a:rPr>
              <a:t>https://docs.podman.io/en/latest/</a:t>
            </a:r>
            <a:endParaRPr sz="1400">
              <a:solidFill>
                <a:schemeClr val="bg1"/>
              </a:solidFill>
              <a:latin typeface="Arial"/>
              <a:cs typeface="Arial"/>
            </a:endParaRPr>
          </a:p>
          <a:p>
            <a:pPr marL="0" marR="0" indent="0">
              <a:lnSpc>
                <a:spcPct val="150000"/>
              </a:lnSpc>
              <a:buFont typeface="Arial"/>
              <a:buNone/>
              <a:defRPr/>
            </a:pPr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Red Hat, Inc.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 (2024). </a:t>
            </a:r>
            <a:r>
              <a:rPr sz="1400" i="1">
                <a:solidFill>
                  <a:schemeClr val="bg1"/>
                </a:solidFill>
                <a:latin typeface="Arial"/>
                <a:ea typeface="Arial"/>
                <a:cs typeface="Arial"/>
              </a:rPr>
              <a:t>Getting Started with Cockpit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. Recuperado de </a:t>
            </a:r>
            <a:r>
              <a:rPr sz="1400" u="sng">
                <a:solidFill>
                  <a:schemeClr val="bg1"/>
                </a:solidFill>
                <a:latin typeface="Arial"/>
                <a:ea typeface="Arial"/>
                <a:cs typeface="Arial"/>
                <a:hlinkClick r:id="rId5" tooltip="https://cockpit-project.org/running.html"/>
              </a:rPr>
              <a:t>https://cockpit-project.org/running.html</a:t>
            </a:r>
            <a:endParaRPr sz="1400">
              <a:solidFill>
                <a:schemeClr val="bg1"/>
              </a:solidFill>
              <a:latin typeface="Arial"/>
              <a:cs typeface="Arial"/>
            </a:endParaRPr>
          </a:p>
          <a:p>
            <a:pPr marL="0" marR="0" indent="0">
              <a:lnSpc>
                <a:spcPct val="150000"/>
              </a:lnSpc>
              <a:buFont typeface="Arial"/>
              <a:buNone/>
              <a:defRPr/>
            </a:pPr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Samba Team.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 (2024). </a:t>
            </a:r>
            <a:r>
              <a:rPr sz="1400" i="1">
                <a:solidFill>
                  <a:schemeClr val="bg1"/>
                </a:solidFill>
                <a:latin typeface="Arial"/>
                <a:ea typeface="Arial"/>
                <a:cs typeface="Arial"/>
              </a:rPr>
              <a:t>Samba How-to Collection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. Recuperado de </a:t>
            </a:r>
            <a:r>
              <a:rPr sz="1400" u="sng">
                <a:solidFill>
                  <a:schemeClr val="bg1"/>
                </a:solidFill>
                <a:latin typeface="Arial"/>
                <a:ea typeface="Arial"/>
                <a:cs typeface="Arial"/>
                <a:hlinkClick r:id="rId6" tooltip="https://www.samba.org/samba/docs/"/>
              </a:rPr>
              <a:t>https://www.samba.org/samba/docs/</a:t>
            </a:r>
            <a:endParaRPr sz="1400">
              <a:solidFill>
                <a:schemeClr val="bg1"/>
              </a:solidFill>
              <a:latin typeface="Arial"/>
              <a:cs typeface="Arial"/>
            </a:endParaRPr>
          </a:p>
          <a:p>
            <a:pPr marL="0" marR="0" indent="0">
              <a:lnSpc>
                <a:spcPct val="150000"/>
              </a:lnSpc>
              <a:buFont typeface="Arial"/>
              <a:buNone/>
              <a:defRPr/>
            </a:pPr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ZeroTier, Inc.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 (2024). </a:t>
            </a:r>
            <a:r>
              <a:rPr sz="1400" i="1">
                <a:solidFill>
                  <a:schemeClr val="bg1"/>
                </a:solidFill>
                <a:latin typeface="Arial"/>
                <a:ea typeface="Arial"/>
                <a:cs typeface="Arial"/>
              </a:rPr>
              <a:t>ZeroTier Manual and Knowledge Base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. Recuperado de </a:t>
            </a:r>
            <a:r>
              <a:rPr sz="1400" u="sng">
                <a:solidFill>
                  <a:schemeClr val="bg1"/>
                </a:solidFill>
                <a:latin typeface="Arial"/>
                <a:ea typeface="Arial"/>
                <a:cs typeface="Arial"/>
                <a:hlinkClick r:id="rId7" tooltip="https://docs.zerotier.com/"/>
              </a:rPr>
              <a:t>https://docs.zerotier.com/</a:t>
            </a:r>
            <a:endParaRPr sz="900">
              <a:solidFill>
                <a:schemeClr val="bg1"/>
              </a:solidFill>
              <a:latin typeface="Arial"/>
              <a:cs typeface="Arial"/>
            </a:endParaRPr>
          </a:p>
          <a:p>
            <a:pPr marL="0" marR="0" indent="0">
              <a:lnSpc>
                <a:spcPct val="150000"/>
              </a:lnSpc>
              <a:buFont typeface="Arial"/>
              <a:buNone/>
              <a:defRPr/>
            </a:pPr>
            <a:r>
              <a:rPr sz="18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Bibliografía complementaria</a:t>
            </a:r>
            <a:r>
              <a:rPr sz="1800">
                <a:solidFill>
                  <a:schemeClr val="bg1"/>
                </a:solidFill>
              </a:rPr>
              <a:t>:</a:t>
            </a:r>
            <a:endParaRPr sz="9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Free Software Foundation.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 (2023). </a:t>
            </a:r>
            <a:r>
              <a:rPr sz="1400" i="1">
                <a:solidFill>
                  <a:schemeClr val="bg1"/>
                </a:solidFill>
                <a:latin typeface="Arial"/>
                <a:ea typeface="Arial"/>
                <a:cs typeface="Arial"/>
              </a:rPr>
              <a:t>GNU Bash Reference Manual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. Recuperado de </a:t>
            </a:r>
            <a:r>
              <a:rPr sz="1400" u="sng">
                <a:solidFill>
                  <a:schemeClr val="bg1"/>
                </a:solidFill>
                <a:latin typeface="Arial"/>
                <a:ea typeface="Arial"/>
                <a:cs typeface="Arial"/>
                <a:hlinkClick r:id="rId8" tooltip="https://www.gnu.org/software/bash/manual/"/>
              </a:rPr>
              <a:t>https://www.gnu.org/software/bash/manual/</a:t>
            </a:r>
            <a:endParaRPr sz="14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Negus, C.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 (2020). </a:t>
            </a:r>
            <a:r>
              <a:rPr sz="1400" i="1">
                <a:solidFill>
                  <a:schemeClr val="bg1"/>
                </a:solidFill>
                <a:latin typeface="Arial"/>
                <a:ea typeface="Arial"/>
                <a:cs typeface="Arial"/>
              </a:rPr>
              <a:t>Linux Bible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 (10th ed.). Wiley.</a:t>
            </a:r>
            <a:endParaRPr sz="14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Shotts, W.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 (2019). </a:t>
            </a:r>
            <a:r>
              <a:rPr sz="1400" i="1">
                <a:solidFill>
                  <a:schemeClr val="bg1"/>
                </a:solidFill>
                <a:latin typeface="Arial"/>
                <a:ea typeface="Arial"/>
                <a:cs typeface="Arial"/>
              </a:rPr>
              <a:t>The Linux Command Line: A Complete Introduction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 (2nd ed.). No Starch Press.</a:t>
            </a:r>
            <a:endParaRPr sz="14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Walsh, D.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 (2023). </a:t>
            </a:r>
            <a:r>
              <a:rPr sz="1400" i="1">
                <a:solidFill>
                  <a:schemeClr val="bg1"/>
                </a:solidFill>
                <a:latin typeface="Arial"/>
                <a:ea typeface="Arial"/>
                <a:cs typeface="Arial"/>
              </a:rPr>
              <a:t>Podman in Action: Secure Desktop Container Management</a:t>
            </a:r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. Manning Publications.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7248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Agradecimientos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8110229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00201"/>
            <a:ext cx="5069002" cy="4525962"/>
          </a:xfrm>
        </p:spPr>
        <p:txBody>
          <a:bodyPr/>
          <a:lstStyle/>
          <a:p>
            <a:pPr>
              <a:defRPr/>
            </a:pPr>
            <a:r>
              <a:rPr sz="3200" b="0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A mi tutor por la guía constante, a mi PC por el apoyo, y a todos los que de una forma u otra han hecho posible que este servidor hoy esté corriendo sin errores.</a:t>
            </a:r>
            <a:endParaRPr sz="320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3200">
                <a:solidFill>
                  <a:schemeClr val="bg1"/>
                </a:solidFill>
                <a:latin typeface="Arial"/>
                <a:ea typeface="Arial"/>
                <a:cs typeface="Arial"/>
              </a:rPr>
              <a:t>Y a Millán por siempre estar ahí.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950990960" name="Marcador de contenido 3" descr="Goku y Gohan - Hola Muy Buenas Tardes☺️¿Qué Tal Cómo Han... | Facebook"/>
          <p:cNvPicPr/>
          <p:nvPr/>
        </p:nvPicPr>
        <p:blipFill rotWithShape="1">
          <a:blip r:embed="rId3"/>
          <a:stretch/>
        </p:blipFill>
        <p:spPr bwMode="auto">
          <a:xfrm flipH="0" flipV="0">
            <a:off x="5968087" y="1417638"/>
            <a:ext cx="5455431" cy="4605522"/>
          </a:xfrm>
          <a:prstGeom prst="flowChartAlternateProcess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modified xsi:type="dcterms:W3CDTF">2026-05-21T08:46:57Z</dcterms:modified>
</cp:coreProperties>
</file>